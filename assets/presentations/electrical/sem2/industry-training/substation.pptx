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610EAE-BDAB-43D7-84B3-A0BFE4F61A93}">
          <p14:sldIdLst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6811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3740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3508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2731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8817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4737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17262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86895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1302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89876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516383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018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1127142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6252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01964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8953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E8D59-5051-475E-B66F-9924D7173AC1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3B56644-23EE-421D-B258-63FA0650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0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  <p:sldLayoutId id="2147483986" r:id="rId14"/>
    <p:sldLayoutId id="2147483987" r:id="rId15"/>
    <p:sldLayoutId id="2147483988" r:id="rId16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0F8176-4D46-4AE4-ACC5-97D8F1FC7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289" y="321972"/>
            <a:ext cx="9153235" cy="1849057"/>
          </a:xfrm>
        </p:spPr>
        <p:txBody>
          <a:bodyPr>
            <a:normAutofit/>
          </a:bodyPr>
          <a:lstStyle/>
          <a:p>
            <a:pPr algn="ctr"/>
            <a:r>
              <a:rPr lang="en-US" altLang="en-IN" sz="3200" dirty="0"/>
              <a:t>A POWERPOINT PRESENTATION </a:t>
            </a:r>
            <a:br>
              <a:rPr lang="en-US" altLang="en-IN" sz="3200" dirty="0"/>
            </a:br>
            <a:r>
              <a:rPr lang="en-US" altLang="en-IN" sz="3200" dirty="0"/>
              <a:t>ON  </a:t>
            </a:r>
            <a:r>
              <a:rPr lang="en-US" altLang="en-IN" sz="3600" dirty="0"/>
              <a:t/>
            </a:r>
            <a:br>
              <a:rPr lang="en-US" altLang="en-IN" sz="3600" dirty="0"/>
            </a:br>
            <a:r>
              <a:rPr lang="en-IN" altLang="en-IN" sz="3600" b="1" dirty="0"/>
              <a:t>33/11 KV PATRANGA AYODHYA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1649E10-865B-4BEC-836F-06AB463A7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9351" y="4504902"/>
            <a:ext cx="5383114" cy="555403"/>
          </a:xfrm>
        </p:spPr>
        <p:txBody>
          <a:bodyPr>
            <a:normAutofit/>
          </a:bodyPr>
          <a:lstStyle/>
          <a:p>
            <a:pPr algn="ctr"/>
            <a:r>
              <a:rPr lang="en-US" altLang="en-IN" sz="2000" b="1" i="1" dirty="0">
                <a:solidFill>
                  <a:srgbClr val="000000"/>
                </a:solidFill>
              </a:rPr>
              <a:t>A Industrial training 33/11 </a:t>
            </a:r>
            <a:r>
              <a:rPr lang="en-US" altLang="en-IN" sz="2000" b="1" i="1" dirty="0" err="1">
                <a:solidFill>
                  <a:srgbClr val="000000"/>
                </a:solidFill>
              </a:rPr>
              <a:t>kv</a:t>
            </a:r>
            <a:r>
              <a:rPr lang="en-US" altLang="en-IN" sz="2000" b="1" i="1" dirty="0">
                <a:solidFill>
                  <a:srgbClr val="000000"/>
                </a:solidFill>
              </a:rPr>
              <a:t> Substation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D51BB9C-6418-4108-AB85-EAA9B005796B}"/>
              </a:ext>
            </a:extLst>
          </p:cNvPr>
          <p:cNvSpPr txBox="1"/>
          <p:nvPr/>
        </p:nvSpPr>
        <p:spPr>
          <a:xfrm>
            <a:off x="7938416" y="5530476"/>
            <a:ext cx="4106203" cy="67710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en-IN" sz="2000" b="1" i="1" dirty="0">
                <a:solidFill>
                  <a:srgbClr val="000000"/>
                </a:solidFill>
              </a:rPr>
              <a:t>Submitted To</a:t>
            </a:r>
            <a:r>
              <a:rPr lang="en-US" altLang="en-IN" sz="2000" b="1" i="1">
                <a:solidFill>
                  <a:srgbClr val="000000"/>
                </a:solidFill>
              </a:rPr>
              <a:t>:- </a:t>
            </a:r>
            <a:endParaRPr lang="en-US" altLang="en-IN" sz="2000" b="1" i="1" smtClean="0">
              <a:solidFill>
                <a:srgbClr val="000000"/>
              </a:solidFill>
            </a:endParaRPr>
          </a:p>
          <a:p>
            <a:r>
              <a:rPr lang="en-US" altLang="en-IN" b="1" i="1" smtClean="0">
                <a:solidFill>
                  <a:srgbClr val="000000"/>
                </a:solidFill>
              </a:rPr>
              <a:t>(</a:t>
            </a:r>
            <a:r>
              <a:rPr lang="en-US" altLang="en-IN" b="1" i="1" dirty="0">
                <a:solidFill>
                  <a:srgbClr val="000000"/>
                </a:solidFill>
              </a:rPr>
              <a:t>Lecturer Electrical Engineering)</a:t>
            </a:r>
            <a:endParaRPr lang="en-IN" b="1" i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CC9A06C-0DEB-4210-8578-02996C12F66E}"/>
              </a:ext>
            </a:extLst>
          </p:cNvPr>
          <p:cNvSpPr txBox="1"/>
          <p:nvPr/>
        </p:nvSpPr>
        <p:spPr>
          <a:xfrm>
            <a:off x="1780289" y="5518893"/>
            <a:ext cx="4800617" cy="9848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en-IN" sz="2000" b="1" i="1" dirty="0">
                <a:solidFill>
                  <a:srgbClr val="000000"/>
                </a:solidFill>
              </a:rPr>
              <a:t>Submitted by:-</a:t>
            </a:r>
          </a:p>
          <a:p>
            <a:r>
              <a:rPr lang="en-US" altLang="en-IN" sz="2000" b="1" i="1" dirty="0">
                <a:solidFill>
                  <a:srgbClr val="000000"/>
                </a:solidFill>
              </a:rPr>
              <a:t>Name:- </a:t>
            </a:r>
            <a:endParaRPr lang="en-US" altLang="en-IN" sz="2000" b="1" i="1" dirty="0" smtClean="0">
              <a:solidFill>
                <a:srgbClr val="000000"/>
              </a:solidFill>
            </a:endParaRPr>
          </a:p>
          <a:p>
            <a:r>
              <a:rPr lang="en-US" altLang="en-IN" b="1" i="1" dirty="0" smtClean="0">
                <a:solidFill>
                  <a:srgbClr val="000000"/>
                </a:solidFill>
              </a:rPr>
              <a:t>Branch  </a:t>
            </a:r>
            <a:r>
              <a:rPr lang="en-US" altLang="en-IN" b="1" i="1" dirty="0">
                <a:solidFill>
                  <a:srgbClr val="000000"/>
                </a:solidFill>
              </a:rPr>
              <a:t>:- Electrical Engineering 2</a:t>
            </a:r>
            <a:r>
              <a:rPr lang="en-US" altLang="en-IN" b="1" i="1" baseline="30000" dirty="0">
                <a:solidFill>
                  <a:srgbClr val="000000"/>
                </a:solidFill>
              </a:rPr>
              <a:t>nd</a:t>
            </a:r>
            <a:r>
              <a:rPr lang="en-US" altLang="en-IN" b="1" i="1" dirty="0">
                <a:solidFill>
                  <a:srgbClr val="000000"/>
                </a:solidFill>
              </a:rPr>
              <a:t> year</a:t>
            </a:r>
            <a:endParaRPr lang="en-IN" b="1" i="1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74D5950-C5FD-4F2C-8F10-16F3017A47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424" y="2771885"/>
            <a:ext cx="1678967" cy="167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4762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CFC3D7A-54AD-4518-8AD3-4C708092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1" y="470479"/>
            <a:ext cx="3886920" cy="52647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/>
                </a:solidFill>
                <a:cs typeface="+mn-ea"/>
                <a:sym typeface="+mn-lt"/>
              </a:rPr>
              <a:t>    </a:t>
            </a:r>
            <a:r>
              <a:rPr lang="tr-TR" sz="2800" b="1" dirty="0">
                <a:solidFill>
                  <a:schemeClr val="accent1"/>
                </a:solidFill>
                <a:cs typeface="+mn-ea"/>
                <a:sym typeface="+mn-lt"/>
              </a:rPr>
              <a:t>CONTENTS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BF58247C-770D-4312-9462-D0478FE0A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541" y="3506443"/>
            <a:ext cx="6874148" cy="3174807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C82953F5-AF54-4321-AEC2-10AAE3794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6230" y="1175994"/>
            <a:ext cx="4181043" cy="225300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WHAT IS GRID SUBSTATION </a:t>
            </a:r>
            <a:endParaRPr lang="en-IN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LIGHTNING ARRESTER</a:t>
            </a:r>
            <a:endParaRPr lang="en-IN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BUS BAR</a:t>
            </a:r>
            <a:endParaRPr lang="en-IN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POTENTIAL TRANSFORMER </a:t>
            </a:r>
            <a:endParaRPr lang="en-IN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ISOLATOR</a:t>
            </a:r>
          </a:p>
          <a:p>
            <a:endParaRPr lang="en-US" sz="2000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xmlns="" id="{1C4AAF03-66F6-45F7-B11C-1A2B3212599C}"/>
              </a:ext>
            </a:extLst>
          </p:cNvPr>
          <p:cNvSpPr txBox="1">
            <a:spLocks/>
          </p:cNvSpPr>
          <p:nvPr/>
        </p:nvSpPr>
        <p:spPr>
          <a:xfrm>
            <a:off x="7693170" y="1175993"/>
            <a:ext cx="3505199" cy="2253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CURRENT TRANSFORMER </a:t>
            </a:r>
            <a:endParaRPr lang="en-IN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PROTECTIVE RELAY</a:t>
            </a:r>
            <a:endParaRPr lang="en-IN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CIRCUIT BREAKER</a:t>
            </a:r>
            <a:endParaRPr lang="en-IN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TRANSFORMER </a:t>
            </a:r>
            <a:endParaRPr lang="en-IN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000" dirty="0">
                <a:solidFill>
                  <a:srgbClr val="000000"/>
                </a:solidFill>
              </a:rPr>
              <a:t>CONTROL  ROOM </a:t>
            </a:r>
            <a:endParaRPr lang="en-IN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436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CFC3D7A-54AD-4518-8AD3-4C708092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652" y="734291"/>
            <a:ext cx="8911687" cy="65050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1"/>
                </a:solidFill>
                <a:cs typeface="+mn-ea"/>
                <a:sym typeface="+mn-lt"/>
              </a:rPr>
              <a:t>    </a:t>
            </a:r>
            <a:r>
              <a:rPr lang="en-US" altLang="en-IN" sz="2800" dirty="0">
                <a:solidFill>
                  <a:schemeClr val="accent1"/>
                </a:solidFill>
              </a:rPr>
              <a:t>WHAT IS GRID SUB STATION (GSS)  ?</a:t>
            </a:r>
            <a:r>
              <a:rPr lang="en-IN" sz="2800" dirty="0">
                <a:solidFill>
                  <a:schemeClr val="accent1"/>
                </a:solidFill>
              </a:rPr>
              <a:t/>
            </a:r>
            <a:br>
              <a:rPr lang="en-IN" sz="2800" dirty="0">
                <a:solidFill>
                  <a:schemeClr val="accent1"/>
                </a:solidFill>
              </a:rPr>
            </a:br>
            <a:endParaRPr lang="tr-TR" sz="2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C82953F5-AF54-4321-AEC2-10AAE379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2161" y="1958109"/>
            <a:ext cx="9236363" cy="4045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IN" sz="2400" dirty="0">
                <a:solidFill>
                  <a:srgbClr val="000000"/>
                </a:solidFill>
              </a:rPr>
              <a:t>       "A Substation  is an assembly by apparatus , which transform the characteristics of electrical energy from one form another Say from one voltage level to another level ,Hence a substation is an intermediate link between the generating station and consumer.</a:t>
            </a:r>
          </a:p>
          <a:p>
            <a:pPr marL="0" indent="0">
              <a:buNone/>
            </a:pPr>
            <a:endParaRPr lang="en-IN" sz="2400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IN" sz="2400" dirty="0">
                <a:solidFill>
                  <a:srgbClr val="000000"/>
                </a:solidFill>
              </a:rPr>
              <a:t>For economic transmission voltage should be high =&gt;step up</a:t>
            </a:r>
            <a:endParaRPr lang="en-IN" sz="2400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IN" sz="2400" dirty="0">
                <a:solidFill>
                  <a:srgbClr val="000000"/>
                </a:solidFill>
              </a:rPr>
              <a:t>Transmitted voltage for distribution =&gt;step-down</a:t>
            </a:r>
            <a:endParaRPr lang="en-IN" sz="2400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IN" sz="2400" dirty="0">
                <a:solidFill>
                  <a:srgbClr val="000000"/>
                </a:solidFill>
              </a:rPr>
              <a:t>For this purpose substations are installed.</a:t>
            </a:r>
            <a:endParaRPr lang="en-IN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62959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583A0C-5B9F-4F0A-9368-72CD3825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600" dirty="0">
                <a:solidFill>
                  <a:srgbClr val="000000"/>
                </a:solidFill>
              </a:rPr>
              <a:t>INCOMING FEEDERS(33KV)</a:t>
            </a:r>
            <a:endParaRPr lang="en-IN" sz="360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6CF236-38DC-41A2-87C0-7F1AE3CAD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73382"/>
            <a:ext cx="8915400" cy="572253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</a:rPr>
              <a:t>Ram </a:t>
            </a:r>
            <a:r>
              <a:rPr lang="en-IN" sz="2400" dirty="0" err="1">
                <a:solidFill>
                  <a:schemeClr val="tx1"/>
                </a:solidFill>
              </a:rPr>
              <a:t>Sanehi</a:t>
            </a:r>
            <a:r>
              <a:rPr lang="en-IN" sz="2400" dirty="0">
                <a:solidFill>
                  <a:schemeClr val="tx1"/>
                </a:solidFill>
              </a:rPr>
              <a:t> Ghat</a:t>
            </a:r>
          </a:p>
          <a:p>
            <a:pPr marL="0" indent="0">
              <a:buNone/>
            </a:pPr>
            <a:endParaRPr lang="en-IN" sz="2400" dirty="0">
              <a:solidFill>
                <a:srgbClr val="80808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B11D0479-F5BD-4AC7-B546-F6646F86C9A9}"/>
              </a:ext>
            </a:extLst>
          </p:cNvPr>
          <p:cNvSpPr txBox="1">
            <a:spLocks/>
          </p:cNvSpPr>
          <p:nvPr/>
        </p:nvSpPr>
        <p:spPr>
          <a:xfrm>
            <a:off x="2589212" y="2721447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IN" sz="3600" dirty="0">
                <a:solidFill>
                  <a:srgbClr val="000000"/>
                </a:solidFill>
              </a:rPr>
              <a:t>OUTGOING FEEDERS(11kv)</a:t>
            </a:r>
            <a:endParaRPr lang="en-IN" sz="3600" dirty="0">
              <a:solidFill>
                <a:srgbClr val="00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EAF5F5BA-4DB5-4F1D-A982-A7278C303D78}"/>
              </a:ext>
            </a:extLst>
          </p:cNvPr>
          <p:cNvSpPr txBox="1">
            <a:spLocks/>
          </p:cNvSpPr>
          <p:nvPr/>
        </p:nvSpPr>
        <p:spPr>
          <a:xfrm>
            <a:off x="2589212" y="4136553"/>
            <a:ext cx="2869479" cy="2160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 err="1">
                <a:solidFill>
                  <a:schemeClr val="tx1"/>
                </a:solidFill>
              </a:rPr>
              <a:t>Patranga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</a:p>
          <a:p>
            <a:r>
              <a:rPr lang="en-IN" sz="2400" dirty="0" err="1">
                <a:solidFill>
                  <a:schemeClr val="tx1"/>
                </a:solidFill>
              </a:rPr>
              <a:t>Mavai</a:t>
            </a: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 err="1">
                <a:solidFill>
                  <a:schemeClr val="tx1"/>
                </a:solidFill>
              </a:rPr>
              <a:t>Aliayabad</a:t>
            </a: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 err="1">
                <a:solidFill>
                  <a:schemeClr val="tx1"/>
                </a:solidFill>
              </a:rPr>
              <a:t>Bajitpur</a:t>
            </a:r>
            <a:endParaRPr lang="en-I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rgbClr val="808080"/>
              </a:solidFill>
            </a:endParaRPr>
          </a:p>
          <a:p>
            <a:pPr marL="0" indent="0">
              <a:buFont typeface="Wingdings 3" charset="2"/>
              <a:buNone/>
            </a:pPr>
            <a:endParaRPr lang="en-IN" sz="2400" dirty="0">
              <a:solidFill>
                <a:srgbClr val="80808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9CB17C0-6FC7-45DB-89FC-41605FD274E6}"/>
              </a:ext>
            </a:extLst>
          </p:cNvPr>
          <p:cNvSpPr txBox="1">
            <a:spLocks/>
          </p:cNvSpPr>
          <p:nvPr/>
        </p:nvSpPr>
        <p:spPr>
          <a:xfrm>
            <a:off x="7046912" y="4136553"/>
            <a:ext cx="2869479" cy="2160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 err="1">
                <a:solidFill>
                  <a:schemeClr val="tx1"/>
                </a:solidFill>
              </a:rPr>
              <a:t>Purekamgar</a:t>
            </a: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 err="1">
                <a:solidFill>
                  <a:schemeClr val="tx1"/>
                </a:solidFill>
              </a:rPr>
              <a:t>Barhuva</a:t>
            </a:r>
            <a:endParaRPr lang="en-I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04255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895304"/>
            <a:ext cx="3943927" cy="557501"/>
          </a:xfrm>
        </p:spPr>
        <p:txBody>
          <a:bodyPr>
            <a:normAutofit/>
          </a:bodyPr>
          <a:lstStyle/>
          <a:p>
            <a:r>
              <a:rPr lang="en-US" altLang="en-IN" sz="2800" b="1" dirty="0">
                <a:solidFill>
                  <a:schemeClr val="accent1"/>
                </a:solidFill>
                <a:cs typeface="+mn-ea"/>
              </a:rPr>
              <a:t>LIGHTNING</a:t>
            </a:r>
            <a:r>
              <a:rPr lang="en-US" altLang="en-IN" sz="2000" b="1" dirty="0">
                <a:solidFill>
                  <a:schemeClr val="accent1"/>
                </a:solidFill>
              </a:rPr>
              <a:t> </a:t>
            </a:r>
            <a:r>
              <a:rPr lang="en-US" altLang="en-IN" sz="2700" b="1" dirty="0">
                <a:solidFill>
                  <a:schemeClr val="accent1"/>
                </a:solidFill>
                <a:cs typeface="+mn-ea"/>
              </a:rPr>
              <a:t>ARRESTER</a:t>
            </a:r>
            <a:r>
              <a:rPr lang="en-US" altLang="en-IN" sz="2000" b="1" dirty="0">
                <a:solidFill>
                  <a:schemeClr val="accent1"/>
                </a:solidFill>
              </a:rPr>
              <a:t> :-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CA64094-E5BC-452B-97CB-43611D7A3BF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2266" y="895304"/>
            <a:ext cx="4630828" cy="541496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C63C7EA-B6E4-4079-BA73-7148CFD38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2" y="1626322"/>
            <a:ext cx="3505199" cy="4262436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IN" sz="2400" dirty="0">
                <a:latin typeface="Corbel" panose="020B0503020204020204" pitchFamily="34" charset="0"/>
              </a:rPr>
              <a:t>Lightning </a:t>
            </a:r>
            <a:r>
              <a:rPr lang="en-US" altLang="en-IN" sz="2400" dirty="0" err="1">
                <a:latin typeface="Corbel" panose="020B0503020204020204" pitchFamily="34" charset="0"/>
              </a:rPr>
              <a:t>arreste</a:t>
            </a:r>
            <a:r>
              <a:rPr lang="en-IN" sz="2400" dirty="0">
                <a:latin typeface="Corbel" panose="020B0503020204020204" pitchFamily="34" charset="0"/>
              </a:rPr>
              <a:t>r</a:t>
            </a:r>
            <a:r>
              <a:rPr lang="en-US" altLang="en-IN" sz="2400" dirty="0">
                <a:latin typeface="Corbel" panose="020B0503020204020204" pitchFamily="34" charset="0"/>
              </a:rPr>
              <a:t> </a:t>
            </a:r>
            <a:r>
              <a:rPr lang="en-IN" sz="2400" dirty="0">
                <a:latin typeface="Corbel" panose="020B0503020204020204" pitchFamily="34" charset="0"/>
              </a:rPr>
              <a:t>is a device used on electric power transmission and telecommunication systems to protect the insulation and conductors of the system from the damaging effects of lightning. The typical lightning arrester has a high-voltage terminal and a ground terminal.</a:t>
            </a:r>
            <a:endParaRPr lang="en-US" sz="2400" dirty="0">
              <a:latin typeface="Corbel" panose="020B0503020204020204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xmlns="" id="{5CB361A3-B554-4A99-84EA-1C85B7FBBCDC}"/>
              </a:ext>
            </a:extLst>
          </p:cNvPr>
          <p:cNvSpPr/>
          <p:nvPr/>
        </p:nvSpPr>
        <p:spPr>
          <a:xfrm rot="1969861">
            <a:off x="9648021" y="660265"/>
            <a:ext cx="776913" cy="1932112"/>
          </a:xfrm>
          <a:prstGeom prst="downArrow">
            <a:avLst>
              <a:gd name="adj1" fmla="val 32663"/>
              <a:gd name="adj2" fmla="val 81455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70453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895304"/>
            <a:ext cx="3943927" cy="557501"/>
          </a:xfrm>
        </p:spPr>
        <p:txBody>
          <a:bodyPr>
            <a:normAutofit/>
          </a:bodyPr>
          <a:lstStyle/>
          <a:p>
            <a:r>
              <a:rPr lang="en-US" altLang="en-IN" sz="2800" b="1" dirty="0">
                <a:solidFill>
                  <a:schemeClr val="accent1"/>
                </a:solidFill>
                <a:cs typeface="+mn-ea"/>
              </a:rPr>
              <a:t>BUSBAR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C63C7EA-B6E4-4079-BA73-7148CFD38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2" y="1626321"/>
            <a:ext cx="4892243" cy="4805451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en-IN" sz="2400" dirty="0">
                <a:latin typeface="Corbel" panose="020B0503020204020204" pitchFamily="34" charset="0"/>
              </a:rPr>
              <a:t>In a substation, a busbar acts as a central electrical connection point, distributing power from incoming feeders to outgoing circuits. It's a metallic conductor, often a strip or bar, that simplifies complex power distribution by providing a common junction for multiple connections. This allows for efficient and flexible power management within the substation.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CAB921E-4CA6-4A3B-B330-DB103BCDB84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854099" y="1174054"/>
            <a:ext cx="3943927" cy="5188216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xmlns="" id="{5CB361A3-B554-4A99-84EA-1C85B7FBBCDC}"/>
              </a:ext>
            </a:extLst>
          </p:cNvPr>
          <p:cNvSpPr/>
          <p:nvPr/>
        </p:nvSpPr>
        <p:spPr>
          <a:xfrm rot="978401">
            <a:off x="9625608" y="821910"/>
            <a:ext cx="486588" cy="1565685"/>
          </a:xfrm>
          <a:prstGeom prst="downArrow">
            <a:avLst>
              <a:gd name="adj1" fmla="val 32663"/>
              <a:gd name="adj2" fmla="val 143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113948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55EDE26-0E09-412B-8E11-F1C79724843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96727" y="1062182"/>
            <a:ext cx="4244404" cy="5240596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895304"/>
            <a:ext cx="4421188" cy="557501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accent1"/>
                </a:solidFill>
                <a:cs typeface="+mn-ea"/>
              </a:rPr>
              <a:t>POTENTIAL TRANSFORMER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C63C7EA-B6E4-4079-BA73-7148CFD38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87613" y="1866467"/>
            <a:ext cx="4244404" cy="480545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2800" dirty="0">
                <a:latin typeface="Corbel" panose="020B0503020204020204" pitchFamily="34" charset="0"/>
              </a:rPr>
              <a:t>A Potential Transformer (PT) is an instrument transformer that steps down high system voltages to a safe, standardized value (generally 110 V) for accurate measurement, metering, and protection.</a:t>
            </a:r>
          </a:p>
        </p:txBody>
      </p:sp>
    </p:spTree>
    <p:extLst>
      <p:ext uri="{BB962C8B-B14F-4D97-AF65-F5344CB8AC3E}">
        <p14:creationId xmlns:p14="http://schemas.microsoft.com/office/powerpoint/2010/main" val="327670588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895304"/>
            <a:ext cx="4421188" cy="55750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cs typeface="+mn-ea"/>
              </a:rPr>
              <a:t>ISOLATOR :-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C63C7EA-B6E4-4079-BA73-7148CFD38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87613" y="1866467"/>
            <a:ext cx="3783878" cy="480545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2400" dirty="0">
                <a:latin typeface="Corbel" panose="020B0503020204020204" pitchFamily="34" charset="0"/>
              </a:rPr>
              <a:t>An</a:t>
            </a:r>
            <a:r>
              <a:rPr lang="en-IN" sz="2800" dirty="0">
                <a:latin typeface="Corbel" panose="020B0503020204020204" pitchFamily="34" charset="0"/>
              </a:rPr>
              <a:t> Isolator is an off-load device used to disconnect a circuit or equipment from the power supply for maintenance, providing a visible and safe isolation.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A0F1780-9A34-4A81-882A-4E27228A7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043" y="1699252"/>
            <a:ext cx="5345791" cy="3907222"/>
          </a:xfrm>
          <a:prstGeom prst="rect">
            <a:avLst/>
          </a:prstGeom>
          <a:ln w="76200">
            <a:solidFill>
              <a:srgbClr val="808080"/>
            </a:solidFill>
          </a:ln>
        </p:spPr>
      </p:pic>
    </p:spTree>
    <p:extLst>
      <p:ext uri="{BB962C8B-B14F-4D97-AF65-F5344CB8AC3E}">
        <p14:creationId xmlns:p14="http://schemas.microsoft.com/office/powerpoint/2010/main" val="46416487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613" y="864899"/>
            <a:ext cx="4670570" cy="55750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cs typeface="+mn-ea"/>
              </a:rPr>
              <a:t>CURRENT TRANSFORMER :-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C63C7EA-B6E4-4079-BA73-7148CFD38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1503" y="1628300"/>
            <a:ext cx="8956242" cy="480545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2800" dirty="0">
                <a:latin typeface="Corbel" panose="020B0503020204020204" pitchFamily="34" charset="0"/>
              </a:rPr>
              <a:t>A Current Transformer (CT) is an instrument transformer that reduces high current to a standard value (5A or 1A) for safe measurement, metering, and protection purposes.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0BAF738-2E39-4287-916B-7E248BC52E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105" y="3429000"/>
            <a:ext cx="6744156" cy="311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0264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503" y="424249"/>
            <a:ext cx="4670570" cy="55750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cs typeface="+mn-ea"/>
              </a:rPr>
              <a:t>RELAY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C63C7EA-B6E4-4079-BA73-7148CFD38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1503" y="1443573"/>
            <a:ext cx="4171806" cy="480545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2800" dirty="0">
                <a:latin typeface="Corbel" panose="020B0503020204020204" pitchFamily="34" charset="0"/>
              </a:rPr>
              <a:t>A Relay is a protective device that detects abnormal conditions in an electrical circuit and sends a signal to the circuit breaker to disconnect the faulty section.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CAF1EBF-62A9-4488-823F-63D910C07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28" y="1101822"/>
            <a:ext cx="3943926" cy="495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5154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503" y="424249"/>
            <a:ext cx="4670570" cy="55750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cs typeface="+mn-ea"/>
              </a:rPr>
              <a:t>CIRCUIT BREAKER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C63C7EA-B6E4-4079-BA73-7148CFD38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1503" y="1443573"/>
            <a:ext cx="8956242" cy="480545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2800" dirty="0">
                <a:latin typeface="Centaur" panose="02030504050205020304" pitchFamily="18" charset="0"/>
              </a:rPr>
              <a:t>A Circuit Breaker is an automatic protective device that interrupts normal and fault currents to protect the electrical system from damage.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9745D23-B97E-4254-B07A-EF0CA6755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772" y="3519055"/>
            <a:ext cx="7207704" cy="309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4049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503" y="424249"/>
            <a:ext cx="4670570" cy="55750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cs typeface="+mn-ea"/>
              </a:rPr>
              <a:t>TRANSFORMER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CCD9C627-5B1D-49FD-85E5-238EB4DB66C3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2589213" y="1598613"/>
            <a:ext cx="8808460" cy="4262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N" sz="2800" dirty="0">
                <a:latin typeface="Corbel" panose="020B0503020204020204" pitchFamily="34" charset="0"/>
              </a:rPr>
              <a:t>A Transformer is a static device that transfers electrical energy between two circuits at the same frequency, mainly for stepping up or stepping down voltage.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A7F6137-780E-438A-8829-2324CF8EC8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807" y="3429000"/>
            <a:ext cx="6927272" cy="319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9612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503" y="424249"/>
            <a:ext cx="4670570" cy="55750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cs typeface="+mn-ea"/>
              </a:rPr>
              <a:t>CONTROL ROOM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7B2F8B0-27C3-49DA-B064-51CB423B55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03" y="1519380"/>
            <a:ext cx="9189424" cy="467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947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DD4BB02-BAE1-4603-A8EF-2FFA1F7AA1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" r="3903"/>
          <a:stretch/>
        </p:blipFill>
        <p:spPr>
          <a:xfrm>
            <a:off x="2985052" y="1"/>
            <a:ext cx="6322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5258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99EFB-F02B-441E-B57A-52B9D3C9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745" y="3014518"/>
            <a:ext cx="6936510" cy="828964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cs typeface="+mn-ea"/>
              </a:rPr>
              <a:t>THANK YOU</a:t>
            </a:r>
            <a:endParaRPr lang="en-US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53296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186</TotalTime>
  <Words>437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Centaur</vt:lpstr>
      <vt:lpstr>Century Gothic</vt:lpstr>
      <vt:lpstr>Corbel</vt:lpstr>
      <vt:lpstr>Wingdings</vt:lpstr>
      <vt:lpstr>Wingdings 3</vt:lpstr>
      <vt:lpstr>Wisp</vt:lpstr>
      <vt:lpstr>A POWERPOINT PRESENTATION  ON   33/11 KV PATRANGA AYODHYA</vt:lpstr>
      <vt:lpstr>    CONTENTS</vt:lpstr>
      <vt:lpstr>    WHAT IS GRID SUB STATION (GSS)  ? </vt:lpstr>
      <vt:lpstr>INCOMING FEEDERS(33KV)</vt:lpstr>
      <vt:lpstr>LIGHTNING ARRESTER :-</vt:lpstr>
      <vt:lpstr>BUSBAR</vt:lpstr>
      <vt:lpstr>POTENTIAL TRANSFORMER</vt:lpstr>
      <vt:lpstr>ISOLATOR :-</vt:lpstr>
      <vt:lpstr>CURRENT TRANSFORMER :-</vt:lpstr>
      <vt:lpstr>RELAY</vt:lpstr>
      <vt:lpstr>CIRCUIT BREAKER</vt:lpstr>
      <vt:lpstr>TRANSFORMER</vt:lpstr>
      <vt:lpstr>CONTROL ROOM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POWERPOINT PRESENTATION ON  UTTAR PRADESH  POWER TRANSMISSION CORPORATION LTD  220/132/33kv SUBSTATION PADRA BARABANKI (UP)</dc:title>
  <dc:creator>Maverick Minds</dc:creator>
  <cp:lastModifiedBy>Maverick Minds</cp:lastModifiedBy>
  <cp:revision>24</cp:revision>
  <dcterms:created xsi:type="dcterms:W3CDTF">2025-08-24T15:03:31Z</dcterms:created>
  <dcterms:modified xsi:type="dcterms:W3CDTF">2026-07-11T14:05:15Z</dcterms:modified>
</cp:coreProperties>
</file>