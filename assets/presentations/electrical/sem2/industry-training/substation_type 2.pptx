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5"/>
    </p:embeddedFont>
    <p:embeddedFont>
      <p:font typeface="Montserrat" charset="1" panose="00000500000000000000"/>
      <p:regular r:id="rId26"/>
    </p:embeddedFont>
    <p:embeddedFont>
      <p:font typeface="Poppins" charset="1" panose="00000500000000000000"/>
      <p:regular r:id="rId27"/>
    </p:embeddedFont>
    <p:embeddedFont>
      <p:font typeface="Georgia Pro" charset="1" panose="02040502050405020303"/>
      <p:regular r:id="rId28"/>
    </p:embeddedFont>
    <p:embeddedFont>
      <p:font typeface="Georgia Pro Bold Italics" charset="1" panose="02040802050405090203"/>
      <p:regular r:id="rId29"/>
    </p:embeddedFont>
    <p:embeddedFont>
      <p:font typeface="Georgia Pro Bold" charset="1" panose="02040802050405020203"/>
      <p:regular r:id="rId30"/>
    </p:embeddedFont>
    <p:embeddedFont>
      <p:font typeface="Monotype Corsiva Bold" charset="1" panose="03010101010201010101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Powered By : Aeronix Aavyuh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42036" y="565927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76434" y="-1867766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01050" y="-496962"/>
            <a:ext cx="1286950" cy="1286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180739" y="7985981"/>
            <a:ext cx="3735531" cy="37355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379097" y="313378"/>
            <a:ext cx="1824288" cy="1824288"/>
          </a:xfrm>
          <a:custGeom>
            <a:avLst/>
            <a:gdLst/>
            <a:ahLst/>
            <a:cxnLst/>
            <a:rect r="r" b="b" t="t" l="l"/>
            <a:pathLst>
              <a:path h="1824288" w="1824288">
                <a:moveTo>
                  <a:pt x="0" y="0"/>
                </a:moveTo>
                <a:lnTo>
                  <a:pt x="1824287" y="0"/>
                </a:lnTo>
                <a:lnTo>
                  <a:pt x="1824287" y="1824288"/>
                </a:lnTo>
                <a:lnTo>
                  <a:pt x="0" y="1824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8452" y="2455989"/>
            <a:ext cx="15425705" cy="319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sz="4556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MADHYANCHAL ELECTRICITY DISTRIBUTION CORPORATION LTD,</a:t>
            </a:r>
          </a:p>
          <a:p>
            <a:pPr algn="ctr">
              <a:lnSpc>
                <a:spcPts val="6379"/>
              </a:lnSpc>
            </a:pPr>
            <a:r>
              <a:rPr lang="en-US" sz="455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556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33/11kV SUBSTATION BAREL,</a:t>
            </a:r>
          </a:p>
          <a:p>
            <a:pPr algn="ctr">
              <a:lnSpc>
                <a:spcPts val="6379"/>
              </a:lnSpc>
              <a:spcBef>
                <a:spcPct val="0"/>
              </a:spcBef>
            </a:pPr>
            <a:r>
              <a:rPr lang="en-US" b="true" sz="4556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BARABANKI (UP)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6157" y="828088"/>
            <a:ext cx="14190295" cy="130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sz="4786" spc="-95">
                <a:solidFill>
                  <a:srgbClr val="FF914D"/>
                </a:solidFill>
                <a:latin typeface="Poppins"/>
                <a:ea typeface="Poppins"/>
                <a:cs typeface="Poppins"/>
                <a:sym typeface="Poppins"/>
              </a:rPr>
              <a:t>A Presentation</a:t>
            </a:r>
          </a:p>
          <a:p>
            <a:pPr algn="ctr">
              <a:lnSpc>
                <a:spcPts val="4882"/>
              </a:lnSpc>
            </a:pPr>
            <a:r>
              <a:rPr lang="en-US" sz="4786" spc="-95">
                <a:solidFill>
                  <a:srgbClr val="FF914D"/>
                </a:solidFill>
                <a:latin typeface="Poppins"/>
                <a:ea typeface="Poppins"/>
                <a:cs typeface="Poppins"/>
                <a:sym typeface="Poppins"/>
              </a:rPr>
              <a:t> 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8452" y="6674118"/>
            <a:ext cx="6997848" cy="256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453" spc="-49">
                <a:solidFill>
                  <a:srgbClr val="051D40"/>
                </a:solidFill>
                <a:latin typeface="Georgia Pro"/>
                <a:ea typeface="Georgia Pro"/>
                <a:cs typeface="Georgia Pro"/>
                <a:sym typeface="Georgia Pro"/>
              </a:rPr>
              <a:t>Presented By : </a:t>
            </a:r>
          </a:p>
          <a:p>
            <a:pPr algn="l">
              <a:lnSpc>
                <a:spcPts val="3435"/>
              </a:lnSpc>
            </a:pPr>
            <a:r>
              <a:rPr lang="en-US" b="true" sz="2453" i="true" spc="-49">
                <a:solidFill>
                  <a:srgbClr val="051D4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Abhay Mishra &amp; </a:t>
            </a:r>
          </a:p>
          <a:p>
            <a:pPr algn="l">
              <a:lnSpc>
                <a:spcPts val="3435"/>
              </a:lnSpc>
            </a:pPr>
            <a:r>
              <a:rPr lang="en-US" b="true" sz="2453" i="true" spc="-49">
                <a:solidFill>
                  <a:srgbClr val="051D4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Pranjal vishwakarma</a:t>
            </a:r>
          </a:p>
          <a:p>
            <a:pPr algn="l">
              <a:lnSpc>
                <a:spcPts val="3435"/>
              </a:lnSpc>
            </a:pPr>
            <a:r>
              <a:rPr lang="en-US" sz="2453" spc="-49">
                <a:solidFill>
                  <a:srgbClr val="051D40"/>
                </a:solidFill>
                <a:latin typeface="Georgia Pro"/>
                <a:ea typeface="Georgia Pro"/>
                <a:cs typeface="Georgia Pro"/>
                <a:sym typeface="Georgia Pro"/>
              </a:rPr>
              <a:t>Branch : Electrical Engineering 2</a:t>
            </a:r>
            <a:r>
              <a:rPr lang="en-US" sz="2453" spc="-49">
                <a:solidFill>
                  <a:srgbClr val="051D40"/>
                </a:solidFill>
                <a:latin typeface="Georgia Pro"/>
                <a:ea typeface="Georgia Pro"/>
                <a:cs typeface="Georgia Pro"/>
                <a:sym typeface="Georgia Pro"/>
              </a:rPr>
              <a:t>nd</a:t>
            </a:r>
            <a:r>
              <a:rPr lang="en-US" sz="2453" spc="-49">
                <a:solidFill>
                  <a:srgbClr val="051D40"/>
                </a:solidFill>
                <a:latin typeface="Georgia Pro"/>
                <a:ea typeface="Georgia Pro"/>
                <a:cs typeface="Georgia Pro"/>
                <a:sym typeface="Georgia Pro"/>
              </a:rPr>
              <a:t> Year</a:t>
            </a:r>
          </a:p>
          <a:p>
            <a:pPr algn="l">
              <a:lnSpc>
                <a:spcPts val="3435"/>
              </a:lnSpc>
              <a:spcBef>
                <a:spcPct val="0"/>
              </a:spcBef>
            </a:pPr>
            <a:r>
              <a:rPr lang="en-US" b="true" sz="2453" i="true" spc="-49">
                <a:solidFill>
                  <a:srgbClr val="051D4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Government Polytechnic Jamuniya Deeh Harakh, Barabanki, (UP)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32952" y="6846135"/>
            <a:ext cx="4811573" cy="133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3" spc="-51">
                <a:solidFill>
                  <a:srgbClr val="051D40"/>
                </a:solidFill>
                <a:latin typeface="Georgia Pro"/>
                <a:ea typeface="Georgia Pro"/>
                <a:cs typeface="Georgia Pro"/>
                <a:sym typeface="Georgia Pro"/>
              </a:rPr>
              <a:t>Submitted By : </a:t>
            </a:r>
          </a:p>
          <a:p>
            <a:pPr algn="l">
              <a:lnSpc>
                <a:spcPts val="3575"/>
              </a:lnSpc>
            </a:pPr>
            <a:r>
              <a:rPr lang="en-US" sz="2553" spc="-51" b="true">
                <a:solidFill>
                  <a:srgbClr val="051D4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Sakshi Ma’am</a:t>
            </a:r>
          </a:p>
          <a:p>
            <a:pPr algn="l">
              <a:lnSpc>
                <a:spcPts val="3575"/>
              </a:lnSpc>
              <a:spcBef>
                <a:spcPct val="0"/>
              </a:spcBef>
            </a:pPr>
            <a:r>
              <a:rPr lang="en-US" sz="2553" spc="-51">
                <a:solidFill>
                  <a:srgbClr val="051D40"/>
                </a:solidFill>
                <a:latin typeface="Georgia Pro"/>
                <a:ea typeface="Georgia Pro"/>
                <a:cs typeface="Georgia Pro"/>
                <a:sym typeface="Georgia Pro"/>
              </a:rPr>
              <a:t>(Lecturer Electrical Engineering)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67766" y="-1614217"/>
            <a:ext cx="21673836" cy="14084387"/>
            <a:chOff x="0" y="0"/>
            <a:chExt cx="28898448" cy="1877918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3612740" y="1731750"/>
              <a:ext cx="5285707" cy="14557079"/>
              <a:chOff x="0" y="0"/>
              <a:chExt cx="1044090" cy="287547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44090" cy="2875472"/>
              </a:xfrm>
              <a:custGeom>
                <a:avLst/>
                <a:gdLst/>
                <a:ahLst/>
                <a:cxnLst/>
                <a:rect r="r" b="b" t="t" l="l"/>
                <a:pathLst>
                  <a:path h="2875472" w="1044090">
                    <a:moveTo>
                      <a:pt x="0" y="0"/>
                    </a:moveTo>
                    <a:lnTo>
                      <a:pt x="1044090" y="0"/>
                    </a:lnTo>
                    <a:lnTo>
                      <a:pt x="1044090" y="2875472"/>
                    </a:lnTo>
                    <a:lnTo>
                      <a:pt x="0" y="2875472"/>
                    </a:lnTo>
                    <a:close/>
                  </a:path>
                </a:pathLst>
              </a:custGeom>
              <a:solidFill>
                <a:srgbClr val="FFDE5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44090" cy="2913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4980708" cy="498070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0" cap="sq">
                <a:solidFill>
                  <a:srgbClr val="FFDE59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599409" y="13798474"/>
              <a:ext cx="4980708" cy="498070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0" cap="sq">
                <a:solidFill>
                  <a:srgbClr val="FFDE59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969417" y="2641372"/>
              <a:ext cx="9013662" cy="1622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8"/>
                </a:lnSpc>
                <a:spcBef>
                  <a:spcPct val="0"/>
                </a:spcBef>
              </a:pPr>
              <a:r>
                <a:rPr lang="en-US" b="true" sz="7320">
                  <a:solidFill>
                    <a:srgbClr val="051D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Overview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901854" y="5607895"/>
              <a:ext cx="8106032" cy="8603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Transformer</a:t>
              </a:r>
            </a:p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Current Transformer</a:t>
              </a:r>
            </a:p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Potential Transformer</a:t>
              </a:r>
            </a:p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Bus Coupler</a:t>
              </a:r>
            </a:p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Circuit Breaker</a:t>
              </a:r>
            </a:p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Lighting Arrester </a:t>
              </a:r>
            </a:p>
            <a:p>
              <a:pPr algn="l">
                <a:lnSpc>
                  <a:spcPts val="7393"/>
                </a:lnSpc>
              </a:pPr>
              <a:r>
                <a:rPr lang="en-US" sz="4453" spc="-89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Bus Bar 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5400000">
              <a:off x="3564227" y="5897202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5400000">
              <a:off x="3564227" y="7101952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1"/>
                  </a:lnTo>
                  <a:lnTo>
                    <a:pt x="0" y="80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3564227" y="8302116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1"/>
                  </a:lnTo>
                  <a:lnTo>
                    <a:pt x="0" y="80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3564227" y="9625815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5400000">
              <a:off x="3564227" y="10887746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1"/>
                  </a:lnTo>
                  <a:lnTo>
                    <a:pt x="0" y="80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5400000">
              <a:off x="3564227" y="12149678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5400000">
              <a:off x="3564227" y="13349842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4877692" y="5588845"/>
              <a:ext cx="6572262" cy="7343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58"/>
                </a:lnSpc>
              </a:pPr>
              <a:r>
                <a:rPr lang="en-US" sz="4253" spc="-85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Switch Gear</a:t>
              </a:r>
            </a:p>
            <a:p>
              <a:pPr algn="l">
                <a:lnSpc>
                  <a:spcPts val="7358"/>
                </a:lnSpc>
              </a:pPr>
              <a:r>
                <a:rPr lang="en-US" sz="4253" spc="-85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Isolator</a:t>
              </a:r>
            </a:p>
            <a:p>
              <a:pPr algn="l">
                <a:lnSpc>
                  <a:spcPts val="7358"/>
                </a:lnSpc>
              </a:pPr>
              <a:r>
                <a:rPr lang="en-US" sz="4253" spc="-85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Battery Room</a:t>
              </a:r>
            </a:p>
            <a:p>
              <a:pPr algn="l">
                <a:lnSpc>
                  <a:spcPts val="7358"/>
                </a:lnSpc>
              </a:pPr>
              <a:r>
                <a:rPr lang="en-US" sz="4253" spc="-85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Fire Extinguisher</a:t>
              </a:r>
            </a:p>
            <a:p>
              <a:pPr algn="l">
                <a:lnSpc>
                  <a:spcPts val="7358"/>
                </a:lnSpc>
              </a:pPr>
              <a:r>
                <a:rPr lang="en-US" sz="4253" spc="-85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Control Room</a:t>
              </a:r>
            </a:p>
            <a:p>
              <a:pPr algn="l">
                <a:lnSpc>
                  <a:spcPts val="7358"/>
                </a:lnSpc>
              </a:pPr>
              <a:r>
                <a:rPr lang="en-US" sz="4253" spc="-85">
                  <a:solidFill>
                    <a:srgbClr val="051D40"/>
                  </a:solidFill>
                  <a:latin typeface="Poppins"/>
                  <a:ea typeface="Poppins"/>
                  <a:cs typeface="Poppins"/>
                  <a:sym typeface="Poppins"/>
                </a:rPr>
                <a:t>Certificate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5400000">
              <a:off x="13690610" y="5897202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5400000">
              <a:off x="13690610" y="7101952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1"/>
                  </a:lnTo>
                  <a:lnTo>
                    <a:pt x="0" y="80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5400000">
              <a:off x="13690610" y="8302116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1"/>
                  </a:lnTo>
                  <a:lnTo>
                    <a:pt x="0" y="80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5400000">
              <a:off x="13690610" y="9625815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5400000">
              <a:off x="13690610" y="10887746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1"/>
                  </a:lnTo>
                  <a:lnTo>
                    <a:pt x="0" y="80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5400000">
              <a:off x="13690610" y="12149678"/>
              <a:ext cx="908064" cy="805700"/>
            </a:xfrm>
            <a:custGeom>
              <a:avLst/>
              <a:gdLst/>
              <a:ahLst/>
              <a:cxnLst/>
              <a:rect r="r" b="b" t="t" l="l"/>
              <a:pathLst>
                <a:path h="805700" w="908064">
                  <a:moveTo>
                    <a:pt x="0" y="0"/>
                  </a:moveTo>
                  <a:lnTo>
                    <a:pt x="908064" y="0"/>
                  </a:lnTo>
                  <a:lnTo>
                    <a:pt x="908064" y="805700"/>
                  </a:lnTo>
                  <a:lnTo>
                    <a:pt x="0" y="80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67766" y="7835952"/>
            <a:ext cx="3735531" cy="37355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75981" y="4521775"/>
            <a:ext cx="14099416" cy="1409941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>
                <a:alpha val="19608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34409" y="-1905866"/>
            <a:ext cx="3735531" cy="37355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1443" y="-1107011"/>
            <a:ext cx="2214022" cy="22140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946008" y="3011281"/>
            <a:ext cx="11921263" cy="6711486"/>
          </a:xfrm>
          <a:custGeom>
            <a:avLst/>
            <a:gdLst/>
            <a:ahLst/>
            <a:cxnLst/>
            <a:rect r="r" b="b" t="t" l="l"/>
            <a:pathLst>
              <a:path h="6711486" w="11921263">
                <a:moveTo>
                  <a:pt x="0" y="0"/>
                </a:moveTo>
                <a:lnTo>
                  <a:pt x="11921263" y="0"/>
                </a:lnTo>
                <a:lnTo>
                  <a:pt x="11921263" y="6711487"/>
                </a:lnTo>
                <a:lnTo>
                  <a:pt x="0" y="6711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262834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Transformer </a:t>
            </a:r>
            <a:r>
              <a:rPr lang="en-US" sz="60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(8MVA)</a:t>
            </a: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3105" y="3933137"/>
            <a:ext cx="5022348" cy="215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BHEL, Bharat Heavy Electrical Ltd. 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Telangana (Hyderabad)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40812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13972" y="1028700"/>
            <a:ext cx="4198784" cy="41987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34789" y="2633793"/>
            <a:ext cx="6674878" cy="639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2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connect two busba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rs and allow power transfer between them.</a:t>
            </a:r>
          </a:p>
          <a:p>
            <a:pPr algn="l" marL="0" indent="0" lvl="0">
              <a:lnSpc>
                <a:spcPts val="5582"/>
              </a:lnSpc>
            </a:pPr>
          </a:p>
          <a:p>
            <a:pPr algn="l" marL="0" indent="0" lvl="0">
              <a:lnSpc>
                <a:spcPts val="5582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isolate or sectionalize parts of the system for maintenance or fault.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34789" y="7218131"/>
            <a:ext cx="4693046" cy="469304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013972" y="753655"/>
            <a:ext cx="7462736" cy="8779690"/>
          </a:xfrm>
          <a:custGeom>
            <a:avLst/>
            <a:gdLst/>
            <a:ahLst/>
            <a:cxnLst/>
            <a:rect r="r" b="b" t="t" l="l"/>
            <a:pathLst>
              <a:path h="8779690" w="7462736">
                <a:moveTo>
                  <a:pt x="0" y="0"/>
                </a:moveTo>
                <a:lnTo>
                  <a:pt x="7462737" y="0"/>
                </a:lnTo>
                <a:lnTo>
                  <a:pt x="7462737" y="8779690"/>
                </a:lnTo>
                <a:lnTo>
                  <a:pt x="0" y="8779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260929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 Coupler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400000">
            <a:off x="990314" y="2710279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990314" y="6280150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40812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13972" y="1028700"/>
            <a:ext cx="4198784" cy="41987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34789" y="2633793"/>
            <a:ext cx="6674878" cy="639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2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connect two busba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rs and allow power transfer between them.</a:t>
            </a:r>
          </a:p>
          <a:p>
            <a:pPr algn="l" marL="0" indent="0" lvl="0">
              <a:lnSpc>
                <a:spcPts val="5582"/>
              </a:lnSpc>
            </a:pPr>
          </a:p>
          <a:p>
            <a:pPr algn="l" marL="0" indent="0" lvl="0">
              <a:lnSpc>
                <a:spcPts val="5582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isolate or sectionalize parts of the system for maintenance or fault.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34789" y="7218131"/>
            <a:ext cx="4693046" cy="469304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013972" y="753655"/>
            <a:ext cx="7462736" cy="8779690"/>
          </a:xfrm>
          <a:custGeom>
            <a:avLst/>
            <a:gdLst/>
            <a:ahLst/>
            <a:cxnLst/>
            <a:rect r="r" b="b" t="t" l="l"/>
            <a:pathLst>
              <a:path h="8779690" w="7462736">
                <a:moveTo>
                  <a:pt x="0" y="0"/>
                </a:moveTo>
                <a:lnTo>
                  <a:pt x="7462737" y="0"/>
                </a:lnTo>
                <a:lnTo>
                  <a:pt x="7462737" y="8779690"/>
                </a:lnTo>
                <a:lnTo>
                  <a:pt x="0" y="8779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260929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 Coupler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400000">
            <a:off x="990314" y="2710279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990314" y="6280150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40812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13972" y="1028700"/>
            <a:ext cx="4198784" cy="41987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34789" y="2633793"/>
            <a:ext cx="8992526" cy="498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2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automatically interrupt the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flow of electric current in case of overload or fault.</a:t>
            </a:r>
          </a:p>
          <a:p>
            <a:pPr algn="l" marL="0" indent="0" lvl="0">
              <a:lnSpc>
                <a:spcPts val="5582"/>
              </a:lnSpc>
            </a:pPr>
          </a:p>
          <a:p>
            <a:pPr algn="l" marL="0" indent="0" lvl="0">
              <a:lnSpc>
                <a:spcPts val="5582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protect electrical equipment and ensure safety of the power system.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34789" y="7218131"/>
            <a:ext cx="4693046" cy="469304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990314" y="2710279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990314" y="5507601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13364" y="544106"/>
            <a:ext cx="5416378" cy="9198788"/>
          </a:xfrm>
          <a:custGeom>
            <a:avLst/>
            <a:gdLst/>
            <a:ahLst/>
            <a:cxnLst/>
            <a:rect r="r" b="b" t="t" l="l"/>
            <a:pathLst>
              <a:path h="9198788" w="5416378">
                <a:moveTo>
                  <a:pt x="0" y="0"/>
                </a:moveTo>
                <a:lnTo>
                  <a:pt x="5416378" y="0"/>
                </a:lnTo>
                <a:lnTo>
                  <a:pt x="5416378" y="9198788"/>
                </a:lnTo>
                <a:lnTo>
                  <a:pt x="0" y="9198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082" r="-6640" b="-19453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8" id="18"/>
          <p:cNvSpPr txBox="true"/>
          <p:nvPr/>
        </p:nvSpPr>
        <p:spPr>
          <a:xfrm rot="0">
            <a:off x="260929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Circuit Breaker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0483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50337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13972" y="1028700"/>
            <a:ext cx="4198784" cy="41987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4789" y="7218131"/>
            <a:ext cx="4693046" cy="469304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688176" y="2825954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6"/>
                </a:lnTo>
                <a:lnTo>
                  <a:pt x="0" y="60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773901" y="6314835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74826" y="2175656"/>
            <a:ext cx="9397216" cy="7047912"/>
          </a:xfrm>
          <a:custGeom>
            <a:avLst/>
            <a:gdLst/>
            <a:ahLst/>
            <a:cxnLst/>
            <a:rect r="r" b="b" t="t" l="l"/>
            <a:pathLst>
              <a:path h="7047912" w="9397216">
                <a:moveTo>
                  <a:pt x="0" y="0"/>
                </a:moveTo>
                <a:lnTo>
                  <a:pt x="9397215" y="0"/>
                </a:lnTo>
                <a:lnTo>
                  <a:pt x="9397215" y="7047912"/>
                </a:lnTo>
                <a:lnTo>
                  <a:pt x="0" y="704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1734789" y="2633793"/>
            <a:ext cx="6140037" cy="568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2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protect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electrical equipment from high-voltage lightning strikes.</a:t>
            </a:r>
          </a:p>
          <a:p>
            <a:pPr algn="l" marL="0" indent="0" lvl="0">
              <a:lnSpc>
                <a:spcPts val="5582"/>
              </a:lnSpc>
            </a:pPr>
          </a:p>
          <a:p>
            <a:pPr algn="l" marL="0" indent="0" lvl="0">
              <a:lnSpc>
                <a:spcPts val="5582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safely divert the lightning current to the ground.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929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Lighting Arrester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0483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50337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0110" y="-60553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1648" y="7551872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891124" y="1892852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945548" y="2824791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6"/>
                </a:lnTo>
                <a:lnTo>
                  <a:pt x="0" y="60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5261945"/>
            <a:ext cx="16577205" cy="4453555"/>
          </a:xfrm>
          <a:custGeom>
            <a:avLst/>
            <a:gdLst/>
            <a:ahLst/>
            <a:cxnLst/>
            <a:rect r="r" b="b" t="t" l="l"/>
            <a:pathLst>
              <a:path h="4453555" w="16577205">
                <a:moveTo>
                  <a:pt x="0" y="0"/>
                </a:moveTo>
                <a:lnTo>
                  <a:pt x="16577205" y="0"/>
                </a:lnTo>
                <a:lnTo>
                  <a:pt x="16577205" y="4453555"/>
                </a:lnTo>
                <a:lnTo>
                  <a:pt x="0" y="4453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5469" r="0" b="-3906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2950067" y="1654440"/>
            <a:ext cx="16535760" cy="274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38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carry and distribute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electrical power efficiently.</a:t>
            </a:r>
          </a:p>
          <a:p>
            <a:pPr algn="l" marL="0" indent="0" lvl="0">
              <a:lnSpc>
                <a:spcPts val="7238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connect multiple circuits within a switchgear or</a:t>
            </a:r>
          </a:p>
          <a:p>
            <a:pPr algn="l" marL="0" indent="0" lvl="0">
              <a:lnSpc>
                <a:spcPts val="7238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substation.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929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 Bar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0483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50337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0110" y="-60553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1648" y="7551872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688176" y="2943503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688176" y="5876211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6"/>
                </a:lnTo>
                <a:lnTo>
                  <a:pt x="0" y="60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42894" y="473969"/>
            <a:ext cx="5371845" cy="9174104"/>
          </a:xfrm>
          <a:custGeom>
            <a:avLst/>
            <a:gdLst/>
            <a:ahLst/>
            <a:cxnLst/>
            <a:rect r="r" b="b" t="t" l="l"/>
            <a:pathLst>
              <a:path h="9174104" w="5371845">
                <a:moveTo>
                  <a:pt x="0" y="0"/>
                </a:moveTo>
                <a:lnTo>
                  <a:pt x="5371845" y="0"/>
                </a:lnTo>
                <a:lnTo>
                  <a:pt x="5371845" y="9174104"/>
                </a:lnTo>
                <a:lnTo>
                  <a:pt x="0" y="917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1589126" y="2857492"/>
            <a:ext cx="8841089" cy="505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9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control, protect, and isolate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electrical equipment in a power system.</a:t>
            </a:r>
          </a:p>
          <a:p>
            <a:pPr algn="l" marL="0" indent="0" lvl="0">
              <a:lnSpc>
                <a:spcPts val="5629"/>
              </a:lnSpc>
            </a:pPr>
          </a:p>
          <a:p>
            <a:pPr algn="l" marL="0" indent="0" lvl="0">
              <a:lnSpc>
                <a:spcPts val="5629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ensure safe and reliable operation of the electrical network.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9297" y="359669"/>
            <a:ext cx="122195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Switch Gear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0483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50337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0110" y="-60553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1648" y="7551872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688176" y="2943503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688176" y="5876211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6"/>
                </a:lnTo>
                <a:lnTo>
                  <a:pt x="0" y="60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19371" y="1761509"/>
            <a:ext cx="8940511" cy="6763982"/>
          </a:xfrm>
          <a:custGeom>
            <a:avLst/>
            <a:gdLst/>
            <a:ahLst/>
            <a:cxnLst/>
            <a:rect r="r" b="b" t="t" l="l"/>
            <a:pathLst>
              <a:path h="6763982" w="8940511">
                <a:moveTo>
                  <a:pt x="0" y="0"/>
                </a:moveTo>
                <a:lnTo>
                  <a:pt x="8940511" y="0"/>
                </a:lnTo>
                <a:lnTo>
                  <a:pt x="8940511" y="6763982"/>
                </a:lnTo>
                <a:lnTo>
                  <a:pt x="0" y="6763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42" t="-4939" r="-3451" b="-6039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1589126" y="2857492"/>
            <a:ext cx="7259075" cy="576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9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disconnect a part of the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electrical circuit for maintenance or safety.</a:t>
            </a:r>
          </a:p>
          <a:p>
            <a:pPr algn="l" marL="0" indent="0" lvl="0">
              <a:lnSpc>
                <a:spcPts val="5629"/>
              </a:lnSpc>
            </a:pPr>
          </a:p>
          <a:p>
            <a:pPr algn="l" marL="0" indent="0" lvl="0">
              <a:lnSpc>
                <a:spcPts val="5629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ensure that the section is completely de-energized before work.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9297" y="359669"/>
            <a:ext cx="379287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Isolator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0483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50337" y="7551872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0110" y="-60553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1648" y="7551872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688176" y="2943503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594039" y="6521931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6"/>
                </a:lnTo>
                <a:lnTo>
                  <a:pt x="0" y="60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67053" y="2603683"/>
            <a:ext cx="9450327" cy="5605627"/>
          </a:xfrm>
          <a:custGeom>
            <a:avLst/>
            <a:gdLst/>
            <a:ahLst/>
            <a:cxnLst/>
            <a:rect r="r" b="b" t="t" l="l"/>
            <a:pathLst>
              <a:path h="5605627" w="9450327">
                <a:moveTo>
                  <a:pt x="0" y="0"/>
                </a:moveTo>
                <a:lnTo>
                  <a:pt x="9450327" y="0"/>
                </a:lnTo>
                <a:lnTo>
                  <a:pt x="9450327" y="5605627"/>
                </a:lnTo>
                <a:lnTo>
                  <a:pt x="0" y="560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17" t="-4446" r="-528" b="-8616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7" id="17"/>
          <p:cNvSpPr txBox="true"/>
          <p:nvPr/>
        </p:nvSpPr>
        <p:spPr>
          <a:xfrm rot="0">
            <a:off x="1589126" y="2857492"/>
            <a:ext cx="6677927" cy="64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9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safely store and house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batteries used for backup power supply.</a:t>
            </a:r>
          </a:p>
          <a:p>
            <a:pPr algn="l" marL="0" indent="0" lvl="0">
              <a:lnSpc>
                <a:spcPts val="5629"/>
              </a:lnSpc>
            </a:pPr>
          </a:p>
          <a:p>
            <a:pPr algn="l" marL="0" indent="0" lvl="0">
              <a:lnSpc>
                <a:spcPts val="5629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provide continuous power during outages or emergency situations.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09297" y="359669"/>
            <a:ext cx="70537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Battery Room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17823" y="7940477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907640">
            <a:off x="13566914" y="-318060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17823" y="-1700477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7375" y="7338487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444131" y="2100042"/>
            <a:ext cx="9399738" cy="7983878"/>
          </a:xfrm>
          <a:custGeom>
            <a:avLst/>
            <a:gdLst/>
            <a:ahLst/>
            <a:cxnLst/>
            <a:rect r="r" b="b" t="t" l="l"/>
            <a:pathLst>
              <a:path h="7983878" w="9399738">
                <a:moveTo>
                  <a:pt x="0" y="0"/>
                </a:moveTo>
                <a:lnTo>
                  <a:pt x="9399738" y="0"/>
                </a:lnTo>
                <a:lnTo>
                  <a:pt x="9399738" y="7983878"/>
                </a:lnTo>
                <a:lnTo>
                  <a:pt x="0" y="7983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1206649" y="457200"/>
            <a:ext cx="70537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Fire Extinguisher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46523" y="8583818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004215">
            <a:off x="13749452" y="-1706428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63057" y="372255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30687" y="-1053221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569083" y="2464965"/>
            <a:ext cx="8971836" cy="6024505"/>
          </a:xfrm>
          <a:custGeom>
            <a:avLst/>
            <a:gdLst/>
            <a:ahLst/>
            <a:cxnLst/>
            <a:rect r="r" b="b" t="t" l="l"/>
            <a:pathLst>
              <a:path h="6024505" w="8971836">
                <a:moveTo>
                  <a:pt x="0" y="0"/>
                </a:moveTo>
                <a:lnTo>
                  <a:pt x="8971836" y="0"/>
                </a:lnTo>
                <a:lnTo>
                  <a:pt x="8971836" y="6024505"/>
                </a:lnTo>
                <a:lnTo>
                  <a:pt x="0" y="6024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918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457200"/>
            <a:ext cx="70537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Room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688176" y="2943503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5"/>
                </a:lnTo>
                <a:lnTo>
                  <a:pt x="0" y="60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594039" y="6521931"/>
            <a:ext cx="681048" cy="604275"/>
          </a:xfrm>
          <a:custGeom>
            <a:avLst/>
            <a:gdLst/>
            <a:ahLst/>
            <a:cxnLst/>
            <a:rect r="r" b="b" t="t" l="l"/>
            <a:pathLst>
              <a:path h="604275" w="681048">
                <a:moveTo>
                  <a:pt x="0" y="0"/>
                </a:moveTo>
                <a:lnTo>
                  <a:pt x="681048" y="0"/>
                </a:lnTo>
                <a:lnTo>
                  <a:pt x="681048" y="604276"/>
                </a:lnTo>
                <a:lnTo>
                  <a:pt x="0" y="604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89126" y="2857492"/>
            <a:ext cx="6677927" cy="64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9"/>
              </a:lnSpc>
            </a:pPr>
            <a:r>
              <a:rPr lang="en-US" sz="4730" spc="-9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monitor and control the</a:t>
            </a: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operation of electrical or industrial systems.</a:t>
            </a:r>
          </a:p>
          <a:p>
            <a:pPr algn="l" marL="0" indent="0" lvl="0">
              <a:lnSpc>
                <a:spcPts val="5629"/>
              </a:lnSpc>
            </a:pPr>
          </a:p>
          <a:p>
            <a:pPr algn="l" marL="0" indent="0" lvl="0">
              <a:lnSpc>
                <a:spcPts val="5629"/>
              </a:lnSpc>
            </a:pPr>
            <a:r>
              <a:rPr lang="en-US" sz="4730" spc="-9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To ensure safe, efficient, and continuous functioning of the plant or network.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46523" y="8583818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004215">
            <a:off x="13749452" y="-1706428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82107" y="372255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30687" y="-1053221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871964" y="1792272"/>
            <a:ext cx="10544073" cy="7954301"/>
          </a:xfrm>
          <a:custGeom>
            <a:avLst/>
            <a:gdLst/>
            <a:ahLst/>
            <a:cxnLst/>
            <a:rect r="r" b="b" t="t" l="l"/>
            <a:pathLst>
              <a:path h="7954301" w="10544073">
                <a:moveTo>
                  <a:pt x="0" y="0"/>
                </a:moveTo>
                <a:lnTo>
                  <a:pt x="10544072" y="0"/>
                </a:lnTo>
                <a:lnTo>
                  <a:pt x="10544072" y="7954301"/>
                </a:lnTo>
                <a:lnTo>
                  <a:pt x="0" y="7954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66" t="-4991" r="-3988" b="-6916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457200"/>
            <a:ext cx="70537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Certificate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46523" y="8583818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004215">
            <a:off x="13749452" y="-1706428"/>
            <a:ext cx="7019697" cy="3412857"/>
            <a:chOff x="0" y="0"/>
            <a:chExt cx="660400" cy="321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63057" y="3722559"/>
            <a:ext cx="6783888" cy="67838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30687" y="-1053221"/>
            <a:ext cx="3839626" cy="383962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283750" y="1629994"/>
            <a:ext cx="10566884" cy="7941572"/>
          </a:xfrm>
          <a:custGeom>
            <a:avLst/>
            <a:gdLst/>
            <a:ahLst/>
            <a:cxnLst/>
            <a:rect r="r" b="b" t="t" l="l"/>
            <a:pathLst>
              <a:path h="7941572" w="10566884">
                <a:moveTo>
                  <a:pt x="0" y="0"/>
                </a:moveTo>
                <a:lnTo>
                  <a:pt x="10566885" y="0"/>
                </a:lnTo>
                <a:lnTo>
                  <a:pt x="10566885" y="7941572"/>
                </a:lnTo>
                <a:lnTo>
                  <a:pt x="0" y="794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24" t="-5627" r="-4292" b="-6539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457200"/>
            <a:ext cx="70537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Certificate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45681" y="2430771"/>
            <a:ext cx="13396638" cy="567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977"/>
              </a:lnSpc>
            </a:pPr>
            <a:r>
              <a:rPr lang="en-US" b="true" sz="20539">
                <a:solidFill>
                  <a:srgbClr val="051D4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-9907640">
            <a:off x="13566914" y="-318060"/>
            <a:ext cx="7019697" cy="3412857"/>
            <a:chOff x="0" y="0"/>
            <a:chExt cx="660400" cy="321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321075"/>
            </a:xfrm>
            <a:custGeom>
              <a:avLst/>
              <a:gdLst/>
              <a:ahLst/>
              <a:cxnLst/>
              <a:rect r="r" b="b" t="t" l="l"/>
              <a:pathLst>
                <a:path h="32107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79"/>
                  </a:cubicBezTo>
                  <a:lnTo>
                    <a:pt x="660400" y="321075"/>
                  </a:lnTo>
                  <a:lnTo>
                    <a:pt x="0" y="321075"/>
                  </a:lnTo>
                  <a:lnTo>
                    <a:pt x="0" y="31758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60400" cy="232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68094" y="6461803"/>
            <a:ext cx="6783888" cy="67838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93945" y="-1391297"/>
            <a:ext cx="3839626" cy="38396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328447" y="7940477"/>
            <a:ext cx="4693046" cy="469304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29298" y="263308"/>
            <a:ext cx="5089021" cy="508902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DE59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DAG13CtjAl0</dc:identifier>
  <dcterms:modified xsi:type="dcterms:W3CDTF">2011-08-01T06:04:30Z</dcterms:modified>
  <cp:revision>1</cp:revision>
  <dc:title>Powered By : Aeronix Aavyuh</dc:title>
</cp:coreProperties>
</file>